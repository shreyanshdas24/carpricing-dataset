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4" r:id="rId11"/>
    <p:sldId id="270" r:id="rId12"/>
    <p:sldId id="271" r:id="rId13"/>
    <p:sldId id="265" r:id="rId14"/>
    <p:sldId id="266" r:id="rId15"/>
    <p:sldId id="267" r:id="rId16"/>
  </p:sldIdLst>
  <p:sldSz cx="12192000" cy="6858000"/>
  <p:notesSz cx="6858000" cy="9144000"/>
  <p:embeddedFontLst>
    <p:embeddedFont>
      <p:font typeface="Lato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836DA2-D501-4014-BBA3-CC5774BD3910}">
  <a:tblStyle styleId="{35836DA2-D501-4014-BBA3-CC5774BD391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eyansh Kumar Das" userId="4b72a547b00724d6" providerId="LiveId" clId="{2F6FEE64-C1B4-4207-BE79-DFB423883415}"/>
    <pc:docChg chg="undo custSel modSld">
      <pc:chgData name="Shreyansh Kumar Das" userId="4b72a547b00724d6" providerId="LiveId" clId="{2F6FEE64-C1B4-4207-BE79-DFB423883415}" dt="2026-05-07T16:32:15.198" v="19" actId="1076"/>
      <pc:docMkLst>
        <pc:docMk/>
      </pc:docMkLst>
      <pc:sldChg chg="modSp mod">
        <pc:chgData name="Shreyansh Kumar Das" userId="4b72a547b00724d6" providerId="LiveId" clId="{2F6FEE64-C1B4-4207-BE79-DFB423883415}" dt="2026-05-07T16:31:15.263" v="12" actId="20577"/>
        <pc:sldMkLst>
          <pc:docMk/>
          <pc:sldMk cId="0" sldId="257"/>
        </pc:sldMkLst>
        <pc:spChg chg="mod">
          <ac:chgData name="Shreyansh Kumar Das" userId="4b72a547b00724d6" providerId="LiveId" clId="{2F6FEE64-C1B4-4207-BE79-DFB423883415}" dt="2026-05-07T16:31:15.263" v="12" actId="20577"/>
          <ac:spMkLst>
            <pc:docMk/>
            <pc:sldMk cId="0" sldId="257"/>
            <ac:spMk id="104" creationId="{00000000-0000-0000-0000-000000000000}"/>
          </ac:spMkLst>
        </pc:spChg>
      </pc:sldChg>
      <pc:sldChg chg="modSp mod">
        <pc:chgData name="Shreyansh Kumar Das" userId="4b72a547b00724d6" providerId="LiveId" clId="{2F6FEE64-C1B4-4207-BE79-DFB423883415}" dt="2026-05-07T16:32:15.198" v="19" actId="1076"/>
        <pc:sldMkLst>
          <pc:docMk/>
          <pc:sldMk cId="0" sldId="263"/>
        </pc:sldMkLst>
        <pc:spChg chg="mod">
          <ac:chgData name="Shreyansh Kumar Das" userId="4b72a547b00724d6" providerId="LiveId" clId="{2F6FEE64-C1B4-4207-BE79-DFB423883415}" dt="2026-05-07T16:32:07.508" v="18" actId="1076"/>
          <ac:spMkLst>
            <pc:docMk/>
            <pc:sldMk cId="0" sldId="263"/>
            <ac:spMk id="210" creationId="{00000000-0000-0000-0000-000000000000}"/>
          </ac:spMkLst>
        </pc:spChg>
        <pc:spChg chg="mod">
          <ac:chgData name="Shreyansh Kumar Das" userId="4b72a547b00724d6" providerId="LiveId" clId="{2F6FEE64-C1B4-4207-BE79-DFB423883415}" dt="2026-05-07T16:32:07.508" v="18" actId="1076"/>
          <ac:spMkLst>
            <pc:docMk/>
            <pc:sldMk cId="0" sldId="263"/>
            <ac:spMk id="211" creationId="{00000000-0000-0000-0000-000000000000}"/>
          </ac:spMkLst>
        </pc:spChg>
        <pc:spChg chg="mod">
          <ac:chgData name="Shreyansh Kumar Das" userId="4b72a547b00724d6" providerId="LiveId" clId="{2F6FEE64-C1B4-4207-BE79-DFB423883415}" dt="2026-05-07T16:32:15.198" v="19" actId="1076"/>
          <ac:spMkLst>
            <pc:docMk/>
            <pc:sldMk cId="0" sldId="263"/>
            <ac:spMk id="214" creationId="{00000000-0000-0000-0000-000000000000}"/>
          </ac:spMkLst>
        </pc:spChg>
        <pc:spChg chg="mod">
          <ac:chgData name="Shreyansh Kumar Das" userId="4b72a547b00724d6" providerId="LiveId" clId="{2F6FEE64-C1B4-4207-BE79-DFB423883415}" dt="2026-05-07T16:32:15.198" v="19" actId="1076"/>
          <ac:spMkLst>
            <pc:docMk/>
            <pc:sldMk cId="0" sldId="263"/>
            <ac:spMk id="215" creationId="{00000000-0000-0000-0000-000000000000}"/>
          </ac:spMkLst>
        </pc:spChg>
        <pc:picChg chg="mod">
          <ac:chgData name="Shreyansh Kumar Das" userId="4b72a547b00724d6" providerId="LiveId" clId="{2F6FEE64-C1B4-4207-BE79-DFB423883415}" dt="2026-05-07T16:32:07.508" v="18" actId="1076"/>
          <ac:picMkLst>
            <pc:docMk/>
            <pc:sldMk cId="0" sldId="263"/>
            <ac:picMk id="203" creationId="{00000000-0000-0000-0000-000000000000}"/>
          </ac:picMkLst>
        </pc:picChg>
        <pc:picChg chg="mod">
          <ac:chgData name="Shreyansh Kumar Das" userId="4b72a547b00724d6" providerId="LiveId" clId="{2F6FEE64-C1B4-4207-BE79-DFB423883415}" dt="2026-05-07T16:32:15.198" v="19" actId="1076"/>
          <ac:picMkLst>
            <pc:docMk/>
            <pc:sldMk cId="0" sldId="263"/>
            <ac:picMk id="205" creationId="{00000000-0000-0000-0000-000000000000}"/>
          </ac:picMkLst>
        </pc:picChg>
        <pc:picChg chg="mod">
          <ac:chgData name="Shreyansh Kumar Das" userId="4b72a547b00724d6" providerId="LiveId" clId="{2F6FEE64-C1B4-4207-BE79-DFB423883415}" dt="2026-05-07T16:32:07.508" v="18" actId="1076"/>
          <ac:picMkLst>
            <pc:docMk/>
            <pc:sldMk cId="0" sldId="263"/>
            <ac:picMk id="216" creationId="{00000000-0000-0000-0000-000000000000}"/>
          </ac:picMkLst>
        </pc:picChg>
        <pc:picChg chg="mod">
          <ac:chgData name="Shreyansh Kumar Das" userId="4b72a547b00724d6" providerId="LiveId" clId="{2F6FEE64-C1B4-4207-BE79-DFB423883415}" dt="2026-05-07T16:32:07.508" v="18" actId="1076"/>
          <ac:picMkLst>
            <pc:docMk/>
            <pc:sldMk cId="0" sldId="263"/>
            <ac:picMk id="218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64E5F571-0079-A4A3-0E59-CD9C4A83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>
            <a:extLst>
              <a:ext uri="{FF2B5EF4-FFF2-40B4-BE49-F238E27FC236}">
                <a16:creationId xmlns:a16="http://schemas.microsoft.com/office/drawing/2014/main" id="{6299A756-B358-1A5B-EAA6-7E43DF1ADE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BFF5C4AF-F1DE-056B-640F-72F2371F99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047908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A19E2E45-0C35-D2F4-65AF-067064630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>
            <a:extLst>
              <a:ext uri="{FF2B5EF4-FFF2-40B4-BE49-F238E27FC236}">
                <a16:creationId xmlns:a16="http://schemas.microsoft.com/office/drawing/2014/main" id="{A167469B-3D5F-20D2-4DA7-0FBF8157A5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9:notes">
            <a:extLst>
              <a:ext uri="{FF2B5EF4-FFF2-40B4-BE49-F238E27FC236}">
                <a16:creationId xmlns:a16="http://schemas.microsoft.com/office/drawing/2014/main" id="{9F1E1B5F-7D1B-0812-8C30-50406B509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70522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11" Type="http://schemas.openxmlformats.org/officeDocument/2006/relationships/image" Target="../media/image3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/>
        </p:nvSpPr>
        <p:spPr>
          <a:xfrm>
            <a:off x="1455419" y="1684139"/>
            <a:ext cx="92811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Car Price Prediction</a:t>
            </a:r>
            <a:endParaRPr sz="1800"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1676400" y="2514600"/>
            <a:ext cx="88392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2563EB"/>
                </a:solidFill>
                <a:latin typeface="Lato"/>
                <a:ea typeface="Lato"/>
                <a:cs typeface="Lato"/>
                <a:sym typeface="Lato"/>
              </a:rPr>
              <a:t>Using Regression Models in R</a:t>
            </a:r>
            <a:endParaRPr dirty="0"/>
          </a:p>
        </p:txBody>
      </p:sp>
      <p:sp>
        <p:nvSpPr>
          <p:cNvPr id="87" name="Google Shape;87;p13"/>
          <p:cNvSpPr/>
          <p:nvPr/>
        </p:nvSpPr>
        <p:spPr>
          <a:xfrm>
            <a:off x="5524500" y="3430785"/>
            <a:ext cx="1143000" cy="573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455419" y="3773685"/>
            <a:ext cx="92811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Predictive Analytics Assignment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676400" y="4535685"/>
            <a:ext cx="8839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Name: Shreyansh Kumar Das</a:t>
            </a:r>
          </a:p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Roll No: 752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Project Objective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19907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Goal &amp; Methodology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25336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primary goal is to predict the selling price of used cars by leveraging predictive modeling techniques.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328612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used car selling price accurately.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376237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Compare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standard linear regression against regularized models.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4543425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best model using metrics like Adjusted R-squared, R-squared.</a:t>
            </a:r>
            <a:endParaRPr dirty="0"/>
          </a:p>
        </p:txBody>
      </p:sp>
      <p:sp>
        <p:nvSpPr>
          <p:cNvPr id="105" name="Google Shape;105;p14"/>
          <p:cNvSpPr txBox="1"/>
          <p:nvPr/>
        </p:nvSpPr>
        <p:spPr>
          <a:xfrm>
            <a:off x="846533" y="5286375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Check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statistical assumptions and model stability.</a:t>
            </a:r>
            <a:endParaRPr dirty="0"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990725"/>
            <a:ext cx="5286375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3051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378142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5624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358" y="538638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1" y="1695450"/>
            <a:ext cx="4988052" cy="47979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2556" y="1766694"/>
            <a:ext cx="6060947" cy="4726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29146" y="3733800"/>
            <a:ext cx="5748910" cy="202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Dataset Description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962025" y="20859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CarPricing.csv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62025" y="26289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dataset contains historical sales data for various used vehicles. It captures key specifications and market attributes.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24650" y="2085975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Target Transformation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724650" y="2628900"/>
            <a:ext cx="45053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Vehicle prices often follow a right-skewed distribution. To satisfy linear regression assumptions, we transformed the target variable.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724650" y="5762625"/>
            <a:ext cx="45053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conversion normalizes the variance and improves the linear relationships.</a:t>
            </a:r>
            <a:endParaRPr dirty="0"/>
          </a:p>
        </p:txBody>
      </p:sp>
      <p:sp>
        <p:nvSpPr>
          <p:cNvPr id="127" name="Google Shape;127;p15"/>
          <p:cNvSpPr txBox="1"/>
          <p:nvPr/>
        </p:nvSpPr>
        <p:spPr>
          <a:xfrm>
            <a:off x="1247775" y="3686175"/>
            <a:ext cx="421957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Target Variable: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selling_price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1247775" y="4181475"/>
            <a:ext cx="4219575" cy="971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Predictors: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year,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km_driven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fuel,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seller_type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transmission, owner, mileage, engine,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max_power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seats, brand.</a:t>
            </a:r>
            <a:endParaRPr dirty="0"/>
          </a:p>
        </p:txBody>
      </p:sp>
      <p:pic>
        <p:nvPicPr>
          <p:cNvPr id="130" name="Google Shape;13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4504" y="378599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4504" y="427653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31;p15" descr="image.png">
            <a:extLst>
              <a:ext uri="{FF2B5EF4-FFF2-40B4-BE49-F238E27FC236}">
                <a16:creationId xmlns:a16="http://schemas.microsoft.com/office/drawing/2014/main" id="{E3C01ADB-3F4B-2908-A444-F74FE9EDFDB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84504" y="5309997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CC5309E-CAF3-0A96-E522-8830C9479FF9}"/>
              </a:ext>
            </a:extLst>
          </p:cNvPr>
          <p:cNvSpPr txBox="1"/>
          <p:nvPr/>
        </p:nvSpPr>
        <p:spPr>
          <a:xfrm>
            <a:off x="1141094" y="5280934"/>
            <a:ext cx="414718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Size</a:t>
            </a:r>
            <a:r>
              <a:rPr lang="en-IN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The dataset contains 8128 observations and 12 variables.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D72D423-03E9-3CB0-448B-889F9EBB08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1055" y="3863221"/>
            <a:ext cx="2831974" cy="176998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3095B0-7B4A-9D48-6E08-2D705616FA2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89945" y="3886007"/>
            <a:ext cx="2713026" cy="16956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Data Preprocessing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1331976" y="1663256"/>
            <a:ext cx="9525000" cy="1400174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1333500" y="3286125"/>
            <a:ext cx="9525000" cy="99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1333500" y="4467225"/>
            <a:ext cx="9525000" cy="1028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1331976" y="1663256"/>
            <a:ext cx="49149" cy="143236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2011680" y="1756886"/>
            <a:ext cx="5376672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Handling Missing Values: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Converted standard numerical columns and replaced missing numeric values (e.g., engine, seats) using the column median to avoid dropping critical rows.</a:t>
            </a:r>
            <a:endParaRPr dirty="0"/>
          </a:p>
        </p:txBody>
      </p:sp>
      <p:sp>
        <p:nvSpPr>
          <p:cNvPr id="145" name="Google Shape;145;p16"/>
          <p:cNvSpPr/>
          <p:nvPr/>
        </p:nvSpPr>
        <p:spPr>
          <a:xfrm>
            <a:off x="1333500" y="3286125"/>
            <a:ext cx="47625" cy="990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2011680" y="3133725"/>
            <a:ext cx="631202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Categorical Factors: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Converted text-based variables (fuel, transmission) into mathematical factors. Extracted 'brand' from the full car name and grouped rare brands as "Other".</a:t>
            </a:r>
            <a:endParaRPr dirty="0"/>
          </a:p>
        </p:txBody>
      </p:sp>
      <p:sp>
        <p:nvSpPr>
          <p:cNvPr id="147" name="Google Shape;147;p16"/>
          <p:cNvSpPr/>
          <p:nvPr/>
        </p:nvSpPr>
        <p:spPr>
          <a:xfrm>
            <a:off x="1333500" y="4467225"/>
            <a:ext cx="47625" cy="102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2124075" y="4657725"/>
            <a:ext cx="84486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Feature Engineering: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Created new predictive variables such as car_age from the manufacture year, and log_km_driven to reduce the extreme variance in distance driven.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6875" y="2162175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6875" y="364331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75" y="4843462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600DBEE-B4B9-2F7B-652D-F828664D1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4458" y="1666910"/>
            <a:ext cx="2599943" cy="25958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Exploratory Data Analysis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571500" y="19907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Key Correlations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57250" y="25336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Max Power: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Displayed the strongest positive linear relationship with selling price.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57250" y="3314700"/>
            <a:ext cx="475816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 Age &amp; Usage: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Both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car_age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km_driven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showed an expected negative relationship with price.</a:t>
            </a:r>
            <a:endParaRPr dirty="0"/>
          </a:p>
        </p:txBody>
      </p:sp>
      <p:sp>
        <p:nvSpPr>
          <p:cNvPr id="164" name="Google Shape;164;p17"/>
          <p:cNvSpPr txBox="1"/>
          <p:nvPr/>
        </p:nvSpPr>
        <p:spPr>
          <a:xfrm>
            <a:off x="857250" y="4114800"/>
            <a:ext cx="500062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Transformation Impact: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log transformation of price successfully addressed skewness, making the distribution bell-shaped and suitable for regression modeling.</a:t>
            </a:r>
            <a:endParaRPr/>
          </a:p>
        </p:txBody>
      </p:sp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61194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341471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641" y="4211002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2C6222-7F3B-DE7E-20D1-B5C28B726A1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667" t="-575" r="14958"/>
          <a:stretch>
            <a:fillRect/>
          </a:stretch>
        </p:blipFill>
        <p:spPr>
          <a:xfrm>
            <a:off x="5491972" y="1374553"/>
            <a:ext cx="2936606" cy="26229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3AC289-2052-BFE1-CC9D-FBD467D52C8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866"/>
          <a:stretch>
            <a:fillRect/>
          </a:stretch>
        </p:blipFill>
        <p:spPr>
          <a:xfrm>
            <a:off x="8544487" y="1491139"/>
            <a:ext cx="3411303" cy="259441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DD6A80D-45B0-97C5-4984-C0C401B0A59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769" r="4387" b="2259"/>
          <a:stretch>
            <a:fillRect/>
          </a:stretch>
        </p:blipFill>
        <p:spPr>
          <a:xfrm>
            <a:off x="6781419" y="4114800"/>
            <a:ext cx="4269051" cy="2594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F264FDC-CBFA-C7A5-5AC0-5B58DC9C2902}"/>
              </a:ext>
            </a:extLst>
          </p:cNvPr>
          <p:cNvSpPr/>
          <p:nvPr/>
        </p:nvSpPr>
        <p:spPr>
          <a:xfrm>
            <a:off x="927115" y="2987230"/>
            <a:ext cx="4839462" cy="799338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log(</a:t>
            </a:r>
            <a:r>
              <a:rPr lang="en-US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selling_price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β₀ + β₁(</a:t>
            </a:r>
            <a:r>
              <a:rPr lang="en-US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max_power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ε</a:t>
            </a:r>
          </a:p>
          <a:p>
            <a:pPr algn="ctr"/>
            <a:endParaRPr lang="en-IN"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Simple Linear Regression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16954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Establishing a Baseline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2383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simple model using the single most correlated predictor.</a:t>
            </a:r>
            <a:endParaRPr dirty="0"/>
          </a:p>
        </p:txBody>
      </p:sp>
      <p:sp>
        <p:nvSpPr>
          <p:cNvPr id="181" name="Google Shape;181;p18"/>
          <p:cNvSpPr txBox="1"/>
          <p:nvPr/>
        </p:nvSpPr>
        <p:spPr>
          <a:xfrm>
            <a:off x="857250" y="3924300"/>
            <a:ext cx="5000625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Selection: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max_power was chosen due to its dominant positive correlation.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57250" y="472440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Significance: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predictor was statistically significant (p &lt; 0.05).</a:t>
            </a:r>
            <a:endParaRPr/>
          </a:p>
        </p:txBody>
      </p:sp>
      <p:sp>
        <p:nvSpPr>
          <p:cNvPr id="183" name="Google Shape;183;p18"/>
          <p:cNvSpPr txBox="1"/>
          <p:nvPr/>
        </p:nvSpPr>
        <p:spPr>
          <a:xfrm>
            <a:off x="857250" y="55054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Limitation: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While highly interpretable, a single variable has limited predictive power for complex pricing.</a:t>
            </a:r>
            <a:endParaRPr/>
          </a:p>
        </p:txBody>
      </p:sp>
      <p:pic>
        <p:nvPicPr>
          <p:cNvPr id="185" name="Google Shape;18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01002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26" y="48291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426" y="558165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1CC2A54-A027-985C-293E-95077EA3FD8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05"/>
          <a:stretch>
            <a:fillRect/>
          </a:stretch>
        </p:blipFill>
        <p:spPr>
          <a:xfrm>
            <a:off x="6029325" y="2181224"/>
            <a:ext cx="6068187" cy="39052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B745510-0DC7-EB62-5841-DEF709DFC2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67" r="3774" b="3398"/>
          <a:stretch>
            <a:fillRect/>
          </a:stretch>
        </p:blipFill>
        <p:spPr>
          <a:xfrm>
            <a:off x="6334127" y="1868448"/>
            <a:ext cx="5835458" cy="3440706"/>
          </a:xfrm>
          <a:prstGeom prst="rect">
            <a:avLst/>
          </a:prstGeom>
        </p:spPr>
      </p:pic>
      <p:sp>
        <p:nvSpPr>
          <p:cNvPr id="194" name="Google Shape;194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Multiple Linear Regression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179;p18">
            <a:extLst>
              <a:ext uri="{FF2B5EF4-FFF2-40B4-BE49-F238E27FC236}">
                <a16:creationId xmlns:a16="http://schemas.microsoft.com/office/drawing/2014/main" id="{686E96E7-1A08-9991-5B29-7C3E9DE19598}"/>
              </a:ext>
            </a:extLst>
          </p:cNvPr>
          <p:cNvSpPr txBox="1"/>
          <p:nvPr/>
        </p:nvSpPr>
        <p:spPr>
          <a:xfrm>
            <a:off x="571500" y="1473708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multiple linear regression model using several numeric and categorical variables.  </a:t>
            </a:r>
            <a:endParaRPr dirty="0"/>
          </a:p>
        </p:txBody>
      </p:sp>
      <p:sp>
        <p:nvSpPr>
          <p:cNvPr id="4" name="Google Shape;181;p18">
            <a:extLst>
              <a:ext uri="{FF2B5EF4-FFF2-40B4-BE49-F238E27FC236}">
                <a16:creationId xmlns:a16="http://schemas.microsoft.com/office/drawing/2014/main" id="{BFE8B326-9D25-1366-0D1E-14376F1CD05F}"/>
              </a:ext>
            </a:extLst>
          </p:cNvPr>
          <p:cNvSpPr txBox="1"/>
          <p:nvPr/>
        </p:nvSpPr>
        <p:spPr>
          <a:xfrm>
            <a:off x="857249" y="3576636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Improvement: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Multiple Regression gives a much higher R-squared and Adjusted R-squared than Simple Regression.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Google Shape;182;p18">
            <a:extLst>
              <a:ext uri="{FF2B5EF4-FFF2-40B4-BE49-F238E27FC236}">
                <a16:creationId xmlns:a16="http://schemas.microsoft.com/office/drawing/2014/main" id="{C0C736C8-8996-2B86-F89F-C3405881B90D}"/>
              </a:ext>
            </a:extLst>
          </p:cNvPr>
          <p:cNvSpPr txBox="1"/>
          <p:nvPr/>
        </p:nvSpPr>
        <p:spPr>
          <a:xfrm>
            <a:off x="857249" y="4341206"/>
            <a:ext cx="551611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Interpretability: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The model is easy to interpret because each coefficient shows the effect of one predictor while holding other variables constant</a:t>
            </a:r>
            <a:r>
              <a:rPr lang="en-US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Google Shape;183;p18">
            <a:extLst>
              <a:ext uri="{FF2B5EF4-FFF2-40B4-BE49-F238E27FC236}">
                <a16:creationId xmlns:a16="http://schemas.microsoft.com/office/drawing/2014/main" id="{259C8920-C57E-0639-D755-7FC0D0EBBCF0}"/>
              </a:ext>
            </a:extLst>
          </p:cNvPr>
          <p:cNvSpPr txBox="1"/>
          <p:nvPr/>
        </p:nvSpPr>
        <p:spPr>
          <a:xfrm>
            <a:off x="857249" y="5526923"/>
            <a:ext cx="560755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Conclusion: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Multiple Regression performed better than SLR based on Adjusted R-squared.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Google Shape;185;p18" descr="image.png">
            <a:extLst>
              <a:ext uri="{FF2B5EF4-FFF2-40B4-BE49-F238E27FC236}">
                <a16:creationId xmlns:a16="http://schemas.microsoft.com/office/drawing/2014/main" id="{1E387179-2209-7D1B-68F1-B47A2822451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640" y="369731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6;p18" descr="image.png">
            <a:extLst>
              <a:ext uri="{FF2B5EF4-FFF2-40B4-BE49-F238E27FC236}">
                <a16:creationId xmlns:a16="http://schemas.microsoft.com/office/drawing/2014/main" id="{5AF8FC50-A303-D22E-654F-5969021A2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930" y="445055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7;p18" descr="image.png">
            <a:extLst>
              <a:ext uri="{FF2B5EF4-FFF2-40B4-BE49-F238E27FC236}">
                <a16:creationId xmlns:a16="http://schemas.microsoft.com/office/drawing/2014/main" id="{B8C8A0A9-8651-D45E-6805-4B75E9D2C25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356" y="5625929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DBFD2D8-6894-E08D-4C85-21F3ADDBBD22}"/>
              </a:ext>
            </a:extLst>
          </p:cNvPr>
          <p:cNvSpPr/>
          <p:nvPr/>
        </p:nvSpPr>
        <p:spPr>
          <a:xfrm>
            <a:off x="298320" y="2289800"/>
            <a:ext cx="5925312" cy="112747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log(</a:t>
            </a:r>
            <a:r>
              <a:rPr lang="en-IN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selling_price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β₀ + β₁(</a:t>
            </a:r>
            <a:r>
              <a:rPr lang="en-IN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car_age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β₂(</a:t>
            </a:r>
            <a:r>
              <a:rPr lang="en-IN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log_km_driven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β₃(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fuel)</a:t>
            </a:r>
          </a:p>
          <a:p>
            <a:pPr algn="ctr"/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     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β₄(</a:t>
            </a:r>
            <a:r>
              <a:rPr lang="en-IN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seller_type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β₅(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transmission)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β₆(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owner)</a:t>
            </a:r>
          </a:p>
          <a:p>
            <a:pPr algn="ctr"/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                        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β₇(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mileage)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β₈(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engine)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β₉(</a:t>
            </a:r>
            <a:r>
              <a:rPr lang="en-IN" sz="1500" dirty="0" err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max_power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</a:t>
            </a:r>
          </a:p>
          <a:p>
            <a:pPr algn="ctr"/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β₁₀(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seats)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β₁₁(</a:t>
            </a:r>
            <a:r>
              <a:rPr lang="en-IN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brand) + </a:t>
            </a:r>
            <a:r>
              <a:rPr lang="el-GR" sz="15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ε</a:t>
            </a:r>
            <a:endParaRPr lang="en-IN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5AF99B-3DD5-F8B5-4F32-F331CE0D6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632" y="4895204"/>
            <a:ext cx="5516119" cy="22649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37623" y="2130361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799" y="2147887"/>
            <a:ext cx="3492549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4525" y="2101786"/>
            <a:ext cx="3492549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Diagnostic Analysis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0"/>
          <p:cNvSpPr txBox="1"/>
          <p:nvPr/>
        </p:nvSpPr>
        <p:spPr>
          <a:xfrm>
            <a:off x="8360348" y="3330511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Residuals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8432898" y="3873436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Residual plots were examined.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Shapiro-Wilk test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checked for normality, while the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NCV test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evaluated constant variance.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4572524" y="334803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Multicollinearity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4645074" y="3890962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Variance Inflation Factor (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VIF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was utilized to detect multicollinearity between predictors like engine size and max power.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785242" y="3301936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Outliers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57792" y="3844861"/>
            <a:ext cx="2901999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There are 69 residual outliers, 663 high leverage points, and 328 influential points using the selected rules. </a:t>
            </a:r>
            <a:r>
              <a:rPr lang="en-US" sz="1500" b="0" i="0" u="none" strike="noStrike" cap="none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sym typeface="Lato"/>
              </a:rPr>
              <a:t>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216" name="Google Shape;216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45698" y="2568511"/>
            <a:ext cx="476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29300" y="2586037"/>
            <a:ext cx="53340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1244877" y="3849624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>
          <a:extLst>
            <a:ext uri="{FF2B5EF4-FFF2-40B4-BE49-F238E27FC236}">
              <a16:creationId xmlns:a16="http://schemas.microsoft.com/office/drawing/2014/main" id="{C4C68917-D23E-3AE5-3DF3-C00D331C3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0A642BE-0369-ED04-6AB5-87A561769E9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46" r="4630" b="2428"/>
          <a:stretch>
            <a:fillRect/>
          </a:stretch>
        </p:blipFill>
        <p:spPr>
          <a:xfrm>
            <a:off x="6372225" y="3229852"/>
            <a:ext cx="5607558" cy="343697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BDFBF1F-26C1-086F-54ED-952DC2EC9461}"/>
              </a:ext>
            </a:extLst>
          </p:cNvPr>
          <p:cNvSpPr/>
          <p:nvPr/>
        </p:nvSpPr>
        <p:spPr>
          <a:xfrm>
            <a:off x="398904" y="2174177"/>
            <a:ext cx="6349368" cy="11764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C17BFABA-6132-9EAD-460B-008BA052109F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Ridge Regression</a:t>
            </a:r>
            <a:endParaRPr dirty="0"/>
          </a:p>
        </p:txBody>
      </p:sp>
      <p:sp>
        <p:nvSpPr>
          <p:cNvPr id="228" name="Google Shape;228;p21">
            <a:extLst>
              <a:ext uri="{FF2B5EF4-FFF2-40B4-BE49-F238E27FC236}">
                <a16:creationId xmlns:a16="http://schemas.microsoft.com/office/drawing/2014/main" id="{3EC2AA3C-EFAA-D084-2596-04D9201B7B78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1;p18">
            <a:extLst>
              <a:ext uri="{FF2B5EF4-FFF2-40B4-BE49-F238E27FC236}">
                <a16:creationId xmlns:a16="http://schemas.microsoft.com/office/drawing/2014/main" id="{56145970-6D11-D648-C807-6A753912958F}"/>
              </a:ext>
            </a:extLst>
          </p:cNvPr>
          <p:cNvSpPr txBox="1"/>
          <p:nvPr/>
        </p:nvSpPr>
        <p:spPr>
          <a:xfrm>
            <a:off x="857249" y="3576636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Regularization: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shrinks large coefficients toward zero, making the model more stable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Google Shape;182;p18">
            <a:extLst>
              <a:ext uri="{FF2B5EF4-FFF2-40B4-BE49-F238E27FC236}">
                <a16:creationId xmlns:a16="http://schemas.microsoft.com/office/drawing/2014/main" id="{FD6963E5-0422-FF67-1B1F-EEBBC5F1AF9E}"/>
              </a:ext>
            </a:extLst>
          </p:cNvPr>
          <p:cNvSpPr txBox="1"/>
          <p:nvPr/>
        </p:nvSpPr>
        <p:spPr>
          <a:xfrm>
            <a:off x="857249" y="4341206"/>
            <a:ext cx="551611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Limitation: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Ridge does not remove variables completely; it keeps all predictors in the model.</a:t>
            </a:r>
            <a:endParaRPr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Google Shape;183;p18">
            <a:extLst>
              <a:ext uri="{FF2B5EF4-FFF2-40B4-BE49-F238E27FC236}">
                <a16:creationId xmlns:a16="http://schemas.microsoft.com/office/drawing/2014/main" id="{E43F586A-54CB-F6FD-98FB-3A251D4A7A07}"/>
              </a:ext>
            </a:extLst>
          </p:cNvPr>
          <p:cNvSpPr txBox="1"/>
          <p:nvPr/>
        </p:nvSpPr>
        <p:spPr>
          <a:xfrm>
            <a:off x="857249" y="5105776"/>
            <a:ext cx="560755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Conclusion: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 Ridge performed well, but Multiple Regression had a slightly higher Adjusted R-squared in this dataset.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Google Shape;185;p18" descr="image.png">
            <a:extLst>
              <a:ext uri="{FF2B5EF4-FFF2-40B4-BE49-F238E27FC236}">
                <a16:creationId xmlns:a16="http://schemas.microsoft.com/office/drawing/2014/main" id="{A823E773-C31E-4901-E5C8-EC2CC4266B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0640" y="369731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6;p18" descr="image.png">
            <a:extLst>
              <a:ext uri="{FF2B5EF4-FFF2-40B4-BE49-F238E27FC236}">
                <a16:creationId xmlns:a16="http://schemas.microsoft.com/office/drawing/2014/main" id="{CF63B566-2A77-005C-6897-04C22E80346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930" y="4450554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7;p18" descr="image.png">
            <a:extLst>
              <a:ext uri="{FF2B5EF4-FFF2-40B4-BE49-F238E27FC236}">
                <a16:creationId xmlns:a16="http://schemas.microsoft.com/office/drawing/2014/main" id="{E2A3EE70-BB86-9327-E5BB-2C16AF21C36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8930" y="5184267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7CAA7CC-D0A4-F6AA-C1E3-72AD328426D0}"/>
              </a:ext>
            </a:extLst>
          </p:cNvPr>
          <p:cNvSpPr txBox="1"/>
          <p:nvPr/>
        </p:nvSpPr>
        <p:spPr>
          <a:xfrm>
            <a:off x="636648" y="2361285"/>
            <a:ext cx="621335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selling_price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β₀ + β₁(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car_age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β₂(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log_km_driven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...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pXp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ε</a:t>
            </a: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Ridge penalty: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λΣβ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j²</a:t>
            </a:r>
          </a:p>
          <a:p>
            <a:endParaRPr lang="el-GR" dirty="0"/>
          </a:p>
          <a:p>
            <a:pPr algn="ctr"/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3AFEA6-0032-4653-86F2-AF98599CD3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8080" y="1818013"/>
            <a:ext cx="4375016" cy="1086543"/>
          </a:xfrm>
          <a:prstGeom prst="rect">
            <a:avLst/>
          </a:prstGeom>
        </p:spPr>
      </p:pic>
      <p:pic>
        <p:nvPicPr>
          <p:cNvPr id="10" name="Google Shape;237;p21" descr="image.png">
            <a:extLst>
              <a:ext uri="{FF2B5EF4-FFF2-40B4-BE49-F238E27FC236}">
                <a16:creationId xmlns:a16="http://schemas.microsoft.com/office/drawing/2014/main" id="{377B39FA-A58A-7853-4B24-5FE6F587B968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66235" y="558547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79;p18">
            <a:extLst>
              <a:ext uri="{FF2B5EF4-FFF2-40B4-BE49-F238E27FC236}">
                <a16:creationId xmlns:a16="http://schemas.microsoft.com/office/drawing/2014/main" id="{1E7B569E-DAE9-1BB0-37BA-D4023938992F}"/>
              </a:ext>
            </a:extLst>
          </p:cNvPr>
          <p:cNvSpPr txBox="1"/>
          <p:nvPr/>
        </p:nvSpPr>
        <p:spPr>
          <a:xfrm>
            <a:off x="571499" y="1394595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ridge regression </a:t>
            </a: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 to handle correlated predictors and reduce coefficient instability.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5751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A0C39E92-4E17-A576-8D76-953A068202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03" r="4084" b="3124"/>
          <a:stretch>
            <a:fillRect/>
          </a:stretch>
        </p:blipFill>
        <p:spPr>
          <a:xfrm>
            <a:off x="6372225" y="3189212"/>
            <a:ext cx="5573226" cy="331822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BA86B6B-FC00-D2F1-2691-B8083AE3C425}"/>
              </a:ext>
            </a:extLst>
          </p:cNvPr>
          <p:cNvSpPr/>
          <p:nvPr/>
        </p:nvSpPr>
        <p:spPr>
          <a:xfrm>
            <a:off x="398904" y="2174177"/>
            <a:ext cx="6349368" cy="117643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7" name="Google Shape;227;p21"/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LASSO Regression</a:t>
            </a:r>
            <a:endParaRPr dirty="0"/>
          </a:p>
        </p:txBody>
      </p:sp>
      <p:sp>
        <p:nvSpPr>
          <p:cNvPr id="228" name="Google Shape;228;p21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36;p21" descr="image.png">
            <a:extLst>
              <a:ext uri="{FF2B5EF4-FFF2-40B4-BE49-F238E27FC236}">
                <a16:creationId xmlns:a16="http://schemas.microsoft.com/office/drawing/2014/main" id="{728CB18D-0B3B-A336-8A4B-0F405D23854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9543" y="556915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81;p18">
            <a:extLst>
              <a:ext uri="{FF2B5EF4-FFF2-40B4-BE49-F238E27FC236}">
                <a16:creationId xmlns:a16="http://schemas.microsoft.com/office/drawing/2014/main" id="{F894C063-90DD-294F-321B-4438C5D28B79}"/>
              </a:ext>
            </a:extLst>
          </p:cNvPr>
          <p:cNvSpPr txBox="1"/>
          <p:nvPr/>
        </p:nvSpPr>
        <p:spPr>
          <a:xfrm>
            <a:off x="857249" y="3576636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Regularization: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shrinks some coefficients exactly to zero</a:t>
            </a: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Google Shape;182;p18">
            <a:extLst>
              <a:ext uri="{FF2B5EF4-FFF2-40B4-BE49-F238E27FC236}">
                <a16:creationId xmlns:a16="http://schemas.microsoft.com/office/drawing/2014/main" id="{AB09D721-A7AF-B277-56C8-01BC769712AA}"/>
              </a:ext>
            </a:extLst>
          </p:cNvPr>
          <p:cNvSpPr txBox="1"/>
          <p:nvPr/>
        </p:nvSpPr>
        <p:spPr>
          <a:xfrm>
            <a:off x="856678" y="4048661"/>
            <a:ext cx="551611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Feature Selection: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Variables with zero coefficients are removed from the model.</a:t>
            </a:r>
          </a:p>
        </p:txBody>
      </p:sp>
      <p:sp>
        <p:nvSpPr>
          <p:cNvPr id="6" name="Google Shape;183;p18">
            <a:extLst>
              <a:ext uri="{FF2B5EF4-FFF2-40B4-BE49-F238E27FC236}">
                <a16:creationId xmlns:a16="http://schemas.microsoft.com/office/drawing/2014/main" id="{DCBDA275-0D3E-C31C-891A-DF4CD63706B3}"/>
              </a:ext>
            </a:extLst>
          </p:cNvPr>
          <p:cNvSpPr txBox="1"/>
          <p:nvPr/>
        </p:nvSpPr>
        <p:spPr>
          <a:xfrm>
            <a:off x="856678" y="4753740"/>
            <a:ext cx="560755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Lambda Selection: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 validation was used to choose the best lambda value.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Google Shape;185;p18" descr="image.png">
            <a:extLst>
              <a:ext uri="{FF2B5EF4-FFF2-40B4-BE49-F238E27FC236}">
                <a16:creationId xmlns:a16="http://schemas.microsoft.com/office/drawing/2014/main" id="{C505AF40-269F-989D-3434-C240762BE8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640" y="369731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6;p18" descr="image.png">
            <a:extLst>
              <a:ext uri="{FF2B5EF4-FFF2-40B4-BE49-F238E27FC236}">
                <a16:creationId xmlns:a16="http://schemas.microsoft.com/office/drawing/2014/main" id="{A1B7AC8D-B5D8-D054-1ADD-C7A4C9A7C4A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640" y="414136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7;p18" descr="image.png">
            <a:extLst>
              <a:ext uri="{FF2B5EF4-FFF2-40B4-BE49-F238E27FC236}">
                <a16:creationId xmlns:a16="http://schemas.microsoft.com/office/drawing/2014/main" id="{DA3CAAF5-80DF-52E7-CD97-4094629BFF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0640" y="4848326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0ACB464-322D-CF12-0AC6-3675A15C26EB}"/>
              </a:ext>
            </a:extLst>
          </p:cNvPr>
          <p:cNvSpPr txBox="1"/>
          <p:nvPr/>
        </p:nvSpPr>
        <p:spPr>
          <a:xfrm>
            <a:off x="636648" y="2361285"/>
            <a:ext cx="6213352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selling_price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β₀ + β₁(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car_age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β₂(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log_km_driven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...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pXp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ε</a:t>
            </a: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LASSO penalty: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λΣβ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j²</a:t>
            </a:r>
          </a:p>
          <a:p>
            <a:endParaRPr lang="el-GR" dirty="0"/>
          </a:p>
          <a:p>
            <a:pPr algn="ctr"/>
            <a:endParaRPr lang="en-IN" dirty="0"/>
          </a:p>
        </p:txBody>
      </p:sp>
      <p:sp>
        <p:nvSpPr>
          <p:cNvPr id="17" name="Google Shape;183;p18">
            <a:extLst>
              <a:ext uri="{FF2B5EF4-FFF2-40B4-BE49-F238E27FC236}">
                <a16:creationId xmlns:a16="http://schemas.microsoft.com/office/drawing/2014/main" id="{D7403CE0-B6D3-268E-287D-8EA7456EA70F}"/>
              </a:ext>
            </a:extLst>
          </p:cNvPr>
          <p:cNvSpPr txBox="1"/>
          <p:nvPr/>
        </p:nvSpPr>
        <p:spPr>
          <a:xfrm>
            <a:off x="856678" y="5547295"/>
            <a:ext cx="560755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LASSO performed very close to Multiple Regression but did not give the highest Adjusted R-squared.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" name="Google Shape;187;p18" descr="image.png">
            <a:extLst>
              <a:ext uri="{FF2B5EF4-FFF2-40B4-BE49-F238E27FC236}">
                <a16:creationId xmlns:a16="http://schemas.microsoft.com/office/drawing/2014/main" id="{63D10F6E-3A6E-34DF-2E68-0EC770DFD9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499" y="564080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7C13F29-CD0C-9634-0416-AD842ECC50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1594" y="1860501"/>
            <a:ext cx="3285720" cy="1079857"/>
          </a:xfrm>
          <a:prstGeom prst="rect">
            <a:avLst/>
          </a:prstGeom>
        </p:spPr>
      </p:pic>
      <p:sp>
        <p:nvSpPr>
          <p:cNvPr id="24" name="Google Shape;179;p18">
            <a:extLst>
              <a:ext uri="{FF2B5EF4-FFF2-40B4-BE49-F238E27FC236}">
                <a16:creationId xmlns:a16="http://schemas.microsoft.com/office/drawing/2014/main" id="{EF46AEFA-A2D2-C92A-3681-263817FA5278}"/>
              </a:ext>
            </a:extLst>
          </p:cNvPr>
          <p:cNvSpPr txBox="1"/>
          <p:nvPr/>
        </p:nvSpPr>
        <p:spPr>
          <a:xfrm>
            <a:off x="636648" y="1427592"/>
            <a:ext cx="52863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LASSO Regression model to perform feature selection and improve model simplicity.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2">
          <a:extLst>
            <a:ext uri="{FF2B5EF4-FFF2-40B4-BE49-F238E27FC236}">
              <a16:creationId xmlns:a16="http://schemas.microsoft.com/office/drawing/2014/main" id="{74C5067B-FD48-BD4B-EDA8-26BB2F97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979478-C864-E991-0A54-F5C2B46EDD86}"/>
              </a:ext>
            </a:extLst>
          </p:cNvPr>
          <p:cNvSpPr/>
          <p:nvPr/>
        </p:nvSpPr>
        <p:spPr>
          <a:xfrm>
            <a:off x="1519541" y="2084832"/>
            <a:ext cx="8366760" cy="119653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selling_price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=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β₀ + β₁(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car_age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β₂(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log_km_driven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) + ...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β</a:t>
            </a:r>
            <a:r>
              <a:rPr lang="en-IN" sz="15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pXp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ε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</a:t>
            </a:r>
            <a:b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endParaRPr lang="en-IN" sz="1500" b="1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with Elastic net penalty: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λ[(1 - α)Σβ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j² + </a:t>
            </a:r>
            <a:r>
              <a:rPr lang="el-GR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αΣ|β</a:t>
            </a:r>
            <a:r>
              <a:rPr lang="en-IN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j|]</a:t>
            </a:r>
          </a:p>
          <a:p>
            <a:pPr algn="ctr"/>
            <a:endParaRPr lang="el-GR" sz="15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  <a:p>
            <a:pPr algn="ctr"/>
            <a:endParaRPr lang="en-IN" dirty="0"/>
          </a:p>
        </p:txBody>
      </p:sp>
      <p:sp>
        <p:nvSpPr>
          <p:cNvPr id="227" name="Google Shape;227;p21">
            <a:extLst>
              <a:ext uri="{FF2B5EF4-FFF2-40B4-BE49-F238E27FC236}">
                <a16:creationId xmlns:a16="http://schemas.microsoft.com/office/drawing/2014/main" id="{9EA50794-C9D6-322B-1831-8AE1E3CED308}"/>
              </a:ext>
            </a:extLst>
          </p:cNvPr>
          <p:cNvSpPr txBox="1"/>
          <p:nvPr/>
        </p:nvSpPr>
        <p:spPr>
          <a:xfrm>
            <a:off x="571500" y="571500"/>
            <a:ext cx="1160145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Elastic Net Regression</a:t>
            </a:r>
            <a:endParaRPr dirty="0"/>
          </a:p>
        </p:txBody>
      </p:sp>
      <p:sp>
        <p:nvSpPr>
          <p:cNvPr id="228" name="Google Shape;228;p21">
            <a:extLst>
              <a:ext uri="{FF2B5EF4-FFF2-40B4-BE49-F238E27FC236}">
                <a16:creationId xmlns:a16="http://schemas.microsoft.com/office/drawing/2014/main" id="{D2544156-DDBF-7B2E-9BC6-778CF508E05B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81;p18">
            <a:extLst>
              <a:ext uri="{FF2B5EF4-FFF2-40B4-BE49-F238E27FC236}">
                <a16:creationId xmlns:a16="http://schemas.microsoft.com/office/drawing/2014/main" id="{14901FF9-2F43-8F9A-A487-1F0A892D2307}"/>
              </a:ext>
            </a:extLst>
          </p:cNvPr>
          <p:cNvSpPr txBox="1"/>
          <p:nvPr/>
        </p:nvSpPr>
        <p:spPr>
          <a:xfrm>
            <a:off x="857249" y="3576636"/>
            <a:ext cx="87348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Combination: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 combines Ridge Regression and LASSO Regression in one model.</a:t>
            </a:r>
          </a:p>
        </p:txBody>
      </p:sp>
      <p:sp>
        <p:nvSpPr>
          <p:cNvPr id="5" name="Google Shape;182;p18">
            <a:extLst>
              <a:ext uri="{FF2B5EF4-FFF2-40B4-BE49-F238E27FC236}">
                <a16:creationId xmlns:a16="http://schemas.microsoft.com/office/drawing/2014/main" id="{89B045EA-825A-D464-DDF2-06CC2434CEB8}"/>
              </a:ext>
            </a:extLst>
          </p:cNvPr>
          <p:cNvSpPr txBox="1"/>
          <p:nvPr/>
        </p:nvSpPr>
        <p:spPr>
          <a:xfrm>
            <a:off x="856678" y="4156722"/>
            <a:ext cx="1047864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Alpha Value: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When α is close to 0, Elastic Net behaves more like Ridge; when α is close to 1, it behaves more like LASSO.</a:t>
            </a:r>
          </a:p>
        </p:txBody>
      </p:sp>
      <p:sp>
        <p:nvSpPr>
          <p:cNvPr id="6" name="Google Shape;183;p18">
            <a:extLst>
              <a:ext uri="{FF2B5EF4-FFF2-40B4-BE49-F238E27FC236}">
                <a16:creationId xmlns:a16="http://schemas.microsoft.com/office/drawing/2014/main" id="{BE4F3DE6-A9A3-AE8A-6481-4ACE76DD50AE}"/>
              </a:ext>
            </a:extLst>
          </p:cNvPr>
          <p:cNvSpPr txBox="1"/>
          <p:nvPr/>
        </p:nvSpPr>
        <p:spPr>
          <a:xfrm>
            <a:off x="856678" y="4753740"/>
            <a:ext cx="993324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Lambda Selection: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Cross validation was used to choose the best lambda value.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Google Shape;185;p18" descr="image.png">
            <a:extLst>
              <a:ext uri="{FF2B5EF4-FFF2-40B4-BE49-F238E27FC236}">
                <a16:creationId xmlns:a16="http://schemas.microsoft.com/office/drawing/2014/main" id="{6D3104FB-FA6D-D36B-5EB0-BD5620C8332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0" y="3697316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86;p18" descr="image.png">
            <a:extLst>
              <a:ext uri="{FF2B5EF4-FFF2-40B4-BE49-F238E27FC236}">
                <a16:creationId xmlns:a16="http://schemas.microsoft.com/office/drawing/2014/main" id="{D43CE119-CFA0-2C18-71F0-0DEBFDB5750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9" y="424137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87;p18" descr="image.png">
            <a:extLst>
              <a:ext uri="{FF2B5EF4-FFF2-40B4-BE49-F238E27FC236}">
                <a16:creationId xmlns:a16="http://schemas.microsoft.com/office/drawing/2014/main" id="{19B851D1-61EE-C802-16F1-6FE08F84FCC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0640" y="4848326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83;p18">
            <a:extLst>
              <a:ext uri="{FF2B5EF4-FFF2-40B4-BE49-F238E27FC236}">
                <a16:creationId xmlns:a16="http://schemas.microsoft.com/office/drawing/2014/main" id="{F42F2053-CD2B-FA56-0490-18D9661E6E1E}"/>
              </a:ext>
            </a:extLst>
          </p:cNvPr>
          <p:cNvSpPr txBox="1"/>
          <p:nvPr/>
        </p:nvSpPr>
        <p:spPr>
          <a:xfrm>
            <a:off x="856678" y="5419713"/>
            <a:ext cx="10478644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Conclusion: 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Elastic Net performed very close to LASSO and Ridge, but Multiple Regression still had the highest Adjusted R-squared.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8" name="Google Shape;187;p18" descr="image.png">
            <a:extLst>
              <a:ext uri="{FF2B5EF4-FFF2-40B4-BE49-F238E27FC236}">
                <a16:creationId xmlns:a16="http://schemas.microsoft.com/office/drawing/2014/main" id="{92957634-1967-A0A1-F925-41C1ECB862D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498" y="5550331"/>
            <a:ext cx="1143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179;p18">
            <a:extLst>
              <a:ext uri="{FF2B5EF4-FFF2-40B4-BE49-F238E27FC236}">
                <a16:creationId xmlns:a16="http://schemas.microsoft.com/office/drawing/2014/main" id="{97B93FEC-1D22-D2D1-1F07-9EA24E16CEB0}"/>
              </a:ext>
            </a:extLst>
          </p:cNvPr>
          <p:cNvSpPr txBox="1"/>
          <p:nvPr/>
        </p:nvSpPr>
        <p:spPr>
          <a:xfrm>
            <a:off x="628649" y="1574981"/>
            <a:ext cx="940346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built a LASSO Regression model to perform feature selection and improve model simplicity.</a:t>
            </a:r>
          </a:p>
        </p:txBody>
      </p:sp>
      <p:pic>
        <p:nvPicPr>
          <p:cNvPr id="3" name="Google Shape;238;p21" descr="image.png">
            <a:extLst>
              <a:ext uri="{FF2B5EF4-FFF2-40B4-BE49-F238E27FC236}">
                <a16:creationId xmlns:a16="http://schemas.microsoft.com/office/drawing/2014/main" id="{5BFB6B3E-4049-B31E-B900-4B909EFA502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30343" y="549094"/>
            <a:ext cx="600075" cy="476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8731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45;p22">
            <a:extLst>
              <a:ext uri="{FF2B5EF4-FFF2-40B4-BE49-F238E27FC236}">
                <a16:creationId xmlns:a16="http://schemas.microsoft.com/office/drawing/2014/main" id="{616A01B0-8B44-28C7-E422-BEFA610EC4D9}"/>
              </a:ext>
            </a:extLst>
          </p:cNvPr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 Selection Methods</a:t>
            </a:r>
            <a:endParaRPr/>
          </a:p>
        </p:txBody>
      </p:sp>
      <p:sp>
        <p:nvSpPr>
          <p:cNvPr id="5" name="Google Shape;246;p22">
            <a:extLst>
              <a:ext uri="{FF2B5EF4-FFF2-40B4-BE49-F238E27FC236}">
                <a16:creationId xmlns:a16="http://schemas.microsoft.com/office/drawing/2014/main" id="{36EE63D9-CE58-E324-CCDF-F006870B27D9}"/>
              </a:ext>
            </a:extLst>
          </p:cNvPr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Google Shape;243;p22" descr="image.png">
            <a:extLst>
              <a:ext uri="{FF2B5EF4-FFF2-40B4-BE49-F238E27FC236}">
                <a16:creationId xmlns:a16="http://schemas.microsoft.com/office/drawing/2014/main" id="{53C6CDB5-7D55-D5FB-88B7-76077406154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34125" y="1914525"/>
            <a:ext cx="5286375" cy="39624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48;p22">
            <a:extLst>
              <a:ext uri="{FF2B5EF4-FFF2-40B4-BE49-F238E27FC236}">
                <a16:creationId xmlns:a16="http://schemas.microsoft.com/office/drawing/2014/main" id="{A6D359E5-E9B9-7899-0E87-B279E3758C0B}"/>
              </a:ext>
            </a:extLst>
          </p:cNvPr>
          <p:cNvSpPr txBox="1"/>
          <p:nvPr/>
        </p:nvSpPr>
        <p:spPr>
          <a:xfrm>
            <a:off x="571500" y="1914525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Selection Algorithms</a:t>
            </a:r>
            <a:endParaRPr/>
          </a:p>
        </p:txBody>
      </p:sp>
      <p:sp>
        <p:nvSpPr>
          <p:cNvPr id="8" name="Google Shape;249;p22">
            <a:extLst>
              <a:ext uri="{FF2B5EF4-FFF2-40B4-BE49-F238E27FC236}">
                <a16:creationId xmlns:a16="http://schemas.microsoft.com/office/drawing/2014/main" id="{D1C3C3A2-EE0F-670E-CF57-FD9B759D11A9}"/>
              </a:ext>
            </a:extLst>
          </p:cNvPr>
          <p:cNvSpPr txBox="1"/>
          <p:nvPr/>
        </p:nvSpPr>
        <p:spPr>
          <a:xfrm>
            <a:off x="571500" y="2457450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applied three algorithms to identify the optimal subset of predictors to prevent model overfitting:</a:t>
            </a:r>
            <a:endParaRPr/>
          </a:p>
        </p:txBody>
      </p:sp>
      <p:sp>
        <p:nvSpPr>
          <p:cNvPr id="9" name="Google Shape;250;p22">
            <a:extLst>
              <a:ext uri="{FF2B5EF4-FFF2-40B4-BE49-F238E27FC236}">
                <a16:creationId xmlns:a16="http://schemas.microsoft.com/office/drawing/2014/main" id="{27F71EE1-ACC1-4A39-878D-6B68FDCF7C86}"/>
              </a:ext>
            </a:extLst>
          </p:cNvPr>
          <p:cNvSpPr txBox="1"/>
          <p:nvPr/>
        </p:nvSpPr>
        <p:spPr>
          <a:xfrm>
            <a:off x="6724650" y="2305050"/>
            <a:ext cx="473059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Optimal Predictors Selected</a:t>
            </a:r>
            <a:endParaRPr/>
          </a:p>
        </p:txBody>
      </p:sp>
      <p:sp>
        <p:nvSpPr>
          <p:cNvPr id="10" name="Google Shape;251;p22">
            <a:extLst>
              <a:ext uri="{FF2B5EF4-FFF2-40B4-BE49-F238E27FC236}">
                <a16:creationId xmlns:a16="http://schemas.microsoft.com/office/drawing/2014/main" id="{A26B03FC-3554-6863-C96B-869E67676C19}"/>
              </a:ext>
            </a:extLst>
          </p:cNvPr>
          <p:cNvSpPr txBox="1"/>
          <p:nvPr/>
        </p:nvSpPr>
        <p:spPr>
          <a:xfrm>
            <a:off x="6724650" y="2847975"/>
            <a:ext cx="450532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Models were evaluated using </a:t>
            </a:r>
            <a:r>
              <a:rPr lang="en-US" sz="150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BIC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Mallows' Cp, and Adj R². The optimal Best Subset isolated the following key predictors:</a:t>
            </a:r>
            <a:endParaRPr dirty="0"/>
          </a:p>
        </p:txBody>
      </p:sp>
      <p:sp>
        <p:nvSpPr>
          <p:cNvPr id="11" name="Google Shape;252;p22">
            <a:extLst>
              <a:ext uri="{FF2B5EF4-FFF2-40B4-BE49-F238E27FC236}">
                <a16:creationId xmlns:a16="http://schemas.microsoft.com/office/drawing/2014/main" id="{7E4424B2-1FBA-6E26-A9D4-05575C78AA61}"/>
              </a:ext>
            </a:extLst>
          </p:cNvPr>
          <p:cNvSpPr txBox="1"/>
          <p:nvPr/>
        </p:nvSpPr>
        <p:spPr>
          <a:xfrm>
            <a:off x="857250" y="32099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Best Subset Selection: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Evaluates all possible combinations of predictors to find the absolute best fit.</a:t>
            </a:r>
            <a:endParaRPr/>
          </a:p>
        </p:txBody>
      </p:sp>
      <p:sp>
        <p:nvSpPr>
          <p:cNvPr id="12" name="Google Shape;253;p22">
            <a:extLst>
              <a:ext uri="{FF2B5EF4-FFF2-40B4-BE49-F238E27FC236}">
                <a16:creationId xmlns:a16="http://schemas.microsoft.com/office/drawing/2014/main" id="{FB7D053F-FF42-C2E3-BD90-DBAFD99BC148}"/>
              </a:ext>
            </a:extLst>
          </p:cNvPr>
          <p:cNvSpPr txBox="1"/>
          <p:nvPr/>
        </p:nvSpPr>
        <p:spPr>
          <a:xfrm>
            <a:off x="857250" y="399097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Forward Stepwise: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Starts with an empty model and sequentially adds the most impactful predictors.</a:t>
            </a:r>
            <a:endParaRPr/>
          </a:p>
        </p:txBody>
      </p:sp>
      <p:sp>
        <p:nvSpPr>
          <p:cNvPr id="13" name="Google Shape;254;p22">
            <a:extLst>
              <a:ext uri="{FF2B5EF4-FFF2-40B4-BE49-F238E27FC236}">
                <a16:creationId xmlns:a16="http://schemas.microsoft.com/office/drawing/2014/main" id="{40BFD484-FBCF-B9C0-D83A-1F18BD493333}"/>
              </a:ext>
            </a:extLst>
          </p:cNvPr>
          <p:cNvSpPr txBox="1"/>
          <p:nvPr/>
        </p:nvSpPr>
        <p:spPr>
          <a:xfrm>
            <a:off x="857250" y="4772025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Backward Stepwise: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Starts with a full model and removes the least significant predictors one-by-one.</a:t>
            </a:r>
            <a:endParaRPr/>
          </a:p>
        </p:txBody>
      </p:sp>
      <p:pic>
        <p:nvPicPr>
          <p:cNvPr id="14" name="Google Shape;255;p22" descr="image.png">
            <a:extLst>
              <a:ext uri="{FF2B5EF4-FFF2-40B4-BE49-F238E27FC236}">
                <a16:creationId xmlns:a16="http://schemas.microsoft.com/office/drawing/2014/main" id="{5F9B3EE7-F8AE-3F04-AE9C-9C330860F11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24650" y="4000500"/>
            <a:ext cx="108227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256;p22" descr="image.png">
            <a:extLst>
              <a:ext uri="{FF2B5EF4-FFF2-40B4-BE49-F238E27FC236}">
                <a16:creationId xmlns:a16="http://schemas.microsoft.com/office/drawing/2014/main" id="{70C56FD3-7C88-0672-EA9C-05E7D376005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949803" y="4000500"/>
            <a:ext cx="1699617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257;p22" descr="image.png">
            <a:extLst>
              <a:ext uri="{FF2B5EF4-FFF2-40B4-BE49-F238E27FC236}">
                <a16:creationId xmlns:a16="http://schemas.microsoft.com/office/drawing/2014/main" id="{32E85050-CAB8-052C-90E3-6ADAA2F44AC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92295" y="4000500"/>
            <a:ext cx="128795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258;p22" descr="image.png">
            <a:extLst>
              <a:ext uri="{FF2B5EF4-FFF2-40B4-BE49-F238E27FC236}">
                <a16:creationId xmlns:a16="http://schemas.microsoft.com/office/drawing/2014/main" id="{377DCA39-E79B-76C6-6E4B-EABA8579C12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724650" y="4543425"/>
            <a:ext cx="979289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259;p22" descr="image.png">
            <a:extLst>
              <a:ext uri="{FF2B5EF4-FFF2-40B4-BE49-F238E27FC236}">
                <a16:creationId xmlns:a16="http://schemas.microsoft.com/office/drawing/2014/main" id="{46C8D004-6BE4-A493-CC89-BC6FF7C5C6C3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46814" y="4543425"/>
            <a:ext cx="159662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260;p22" descr="image.png">
            <a:extLst>
              <a:ext uri="{FF2B5EF4-FFF2-40B4-BE49-F238E27FC236}">
                <a16:creationId xmlns:a16="http://schemas.microsoft.com/office/drawing/2014/main" id="{CD740908-A28F-CAB7-A547-9D71A3B7E47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586317" y="4543425"/>
            <a:ext cx="77360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61;p22" descr="image.png">
            <a:extLst>
              <a:ext uri="{FF2B5EF4-FFF2-40B4-BE49-F238E27FC236}">
                <a16:creationId xmlns:a16="http://schemas.microsoft.com/office/drawing/2014/main" id="{B6CE94CF-396F-2EE1-7EA4-D303B53F15A0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724650" y="5086350"/>
            <a:ext cx="1493787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62;p22" descr="image.png">
            <a:extLst>
              <a:ext uri="{FF2B5EF4-FFF2-40B4-BE49-F238E27FC236}">
                <a16:creationId xmlns:a16="http://schemas.microsoft.com/office/drawing/2014/main" id="{42878E28-942A-01D2-5EF9-A2A891EE9479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361312" y="5086350"/>
            <a:ext cx="876448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63;p22" descr="image.png">
            <a:extLst>
              <a:ext uri="{FF2B5EF4-FFF2-40B4-BE49-F238E27FC236}">
                <a16:creationId xmlns:a16="http://schemas.microsoft.com/office/drawing/2014/main" id="{BEF0635B-C9CB-8CA8-5333-C9D6A4B02D82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40972" y="3301960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64;p22" descr="image.png">
            <a:extLst>
              <a:ext uri="{FF2B5EF4-FFF2-40B4-BE49-F238E27FC236}">
                <a16:creationId xmlns:a16="http://schemas.microsoft.com/office/drawing/2014/main" id="{451659F8-505B-B981-7239-E888C9165289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71500" y="4089273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65;p22" descr="image.png">
            <a:extLst>
              <a:ext uri="{FF2B5EF4-FFF2-40B4-BE49-F238E27FC236}">
                <a16:creationId xmlns:a16="http://schemas.microsoft.com/office/drawing/2014/main" id="{D227A79E-5C4B-22CA-25EF-A89E40866CD3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4406" y="4886325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83588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Selection &amp; Performance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2512218" y="5535643"/>
            <a:ext cx="6486525" cy="7879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 cap="none" dirty="0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Best subset selection was performed using Adjusted R², BIC, and Cp criteria.</a:t>
            </a:r>
            <a:endParaRPr sz="1600" dirty="0"/>
          </a:p>
        </p:txBody>
      </p:sp>
      <p:sp>
        <p:nvSpPr>
          <p:cNvPr id="248" name="Google Shape;248;p22"/>
          <p:cNvSpPr/>
          <p:nvPr/>
        </p:nvSpPr>
        <p:spPr>
          <a:xfrm>
            <a:off x="1333500" y="1766887"/>
            <a:ext cx="9525000" cy="352425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22"/>
          <p:cNvGraphicFramePr/>
          <p:nvPr/>
        </p:nvGraphicFramePr>
        <p:xfrm>
          <a:off x="1333500" y="1766887"/>
          <a:ext cx="9524975" cy="3524250"/>
        </p:xfrm>
        <a:graphic>
          <a:graphicData uri="http://schemas.openxmlformats.org/drawingml/2006/table">
            <a:tbl>
              <a:tblPr firstRow="1" bandRow="1">
                <a:noFill/>
                <a:tableStyleId>{35836DA2-D501-4014-BBA3-CC5774BD3910}</a:tableStyleId>
              </a:tblPr>
              <a:tblGrid>
                <a:gridCol w="3615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9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R-Squared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Adjusted R-Squared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 Linear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0.652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Ridge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0.858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LASSO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0.871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Elastic Net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0.862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Multiple Regression (Best Subset)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0.884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u="none" strike="noStrike" cap="non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0.879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50" name="Google Shape;250;p22"/>
          <p:cNvSpPr/>
          <p:nvPr/>
        </p:nvSpPr>
        <p:spPr>
          <a:xfrm>
            <a:off x="1333500" y="2428875"/>
            <a:ext cx="36154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4948981" y="2428875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2"/>
          <p:cNvSpPr/>
          <p:nvPr/>
        </p:nvSpPr>
        <p:spPr>
          <a:xfrm>
            <a:off x="7138987" y="2428875"/>
            <a:ext cx="3719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/>
          <p:nvPr/>
        </p:nvSpPr>
        <p:spPr>
          <a:xfrm>
            <a:off x="1333500" y="3000375"/>
            <a:ext cx="36154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/>
          <p:nvPr/>
        </p:nvSpPr>
        <p:spPr>
          <a:xfrm>
            <a:off x="4948981" y="3000375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7138987" y="3000375"/>
            <a:ext cx="3719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2"/>
          <p:cNvSpPr/>
          <p:nvPr/>
        </p:nvSpPr>
        <p:spPr>
          <a:xfrm>
            <a:off x="1333500" y="3571875"/>
            <a:ext cx="36154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4948981" y="3571875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/>
          <p:nvPr/>
        </p:nvSpPr>
        <p:spPr>
          <a:xfrm>
            <a:off x="7138987" y="3571875"/>
            <a:ext cx="3719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2"/>
          <p:cNvSpPr/>
          <p:nvPr/>
        </p:nvSpPr>
        <p:spPr>
          <a:xfrm>
            <a:off x="1333500" y="4143375"/>
            <a:ext cx="36154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4948981" y="4143375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2"/>
          <p:cNvSpPr/>
          <p:nvPr/>
        </p:nvSpPr>
        <p:spPr>
          <a:xfrm>
            <a:off x="7138987" y="4143375"/>
            <a:ext cx="3719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2"/>
          <p:cNvSpPr/>
          <p:nvPr/>
        </p:nvSpPr>
        <p:spPr>
          <a:xfrm>
            <a:off x="1333500" y="4714875"/>
            <a:ext cx="361548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948981" y="4714875"/>
            <a:ext cx="219000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138987" y="4714875"/>
            <a:ext cx="37195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" name="Google Shape;263;p22" descr="image.png">
            <a:extLst>
              <a:ext uri="{FF2B5EF4-FFF2-40B4-BE49-F238E27FC236}">
                <a16:creationId xmlns:a16="http://schemas.microsoft.com/office/drawing/2014/main" id="{FE43E7A0-6002-40CA-E49E-E6D95A90FD8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186892" y="5653087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 Validation</a:t>
            </a:r>
            <a:endParaRPr/>
          </a:p>
        </p:txBody>
      </p:sp>
      <p:sp>
        <p:nvSpPr>
          <p:cNvPr id="271" name="Google Shape;271;p23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 txBox="1"/>
          <p:nvPr/>
        </p:nvSpPr>
        <p:spPr>
          <a:xfrm>
            <a:off x="571500" y="2805112"/>
            <a:ext cx="5286375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0" b="1" i="0" u="none" strike="noStrike" cap="none">
                <a:solidFill>
                  <a:srgbClr val="2563EB"/>
                </a:solidFill>
                <a:latin typeface="Poppins"/>
                <a:ea typeface="Poppins"/>
                <a:cs typeface="Poppins"/>
                <a:sym typeface="Poppins"/>
              </a:rPr>
              <a:t>5</a:t>
            </a:r>
            <a:endParaRPr/>
          </a:p>
        </p:txBody>
      </p:sp>
      <p:sp>
        <p:nvSpPr>
          <p:cNvPr id="274" name="Google Shape;274;p23"/>
          <p:cNvSpPr txBox="1"/>
          <p:nvPr/>
        </p:nvSpPr>
        <p:spPr>
          <a:xfrm>
            <a:off x="571500" y="4614862"/>
            <a:ext cx="5286375" cy="371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1E3A8A"/>
                </a:solidFill>
                <a:latin typeface="Lato"/>
                <a:ea typeface="Lato"/>
                <a:cs typeface="Lato"/>
                <a:sym typeface="Lato"/>
              </a:rPr>
              <a:t>Fold Cross-Validation</a:t>
            </a:r>
            <a:endParaRPr/>
          </a:p>
        </p:txBody>
      </p:sp>
      <p:sp>
        <p:nvSpPr>
          <p:cNvPr id="275" name="Google Shape;275;p23"/>
          <p:cNvSpPr txBox="1"/>
          <p:nvPr/>
        </p:nvSpPr>
        <p:spPr>
          <a:xfrm>
            <a:off x="6334125" y="2228850"/>
            <a:ext cx="555069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2563EB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Testing Model Stability</a:t>
            </a: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334125" y="2771775"/>
            <a:ext cx="5286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ensure our models were not overfitting the training data, we deployed k-fold cross-validation.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6619875" y="3524250"/>
            <a:ext cx="50006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dataset was randomly partitioned into 5 equal folds.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6619875" y="4000500"/>
            <a:ext cx="500062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Models were evaluated based on their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Average R-squared and RMSE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across all iterations.</a:t>
            </a:r>
            <a:endParaRPr dirty="0"/>
          </a:p>
        </p:txBody>
      </p:sp>
      <p:sp>
        <p:nvSpPr>
          <p:cNvPr id="279" name="Google Shape;279;p23"/>
          <p:cNvSpPr txBox="1"/>
          <p:nvPr/>
        </p:nvSpPr>
        <p:spPr>
          <a:xfrm>
            <a:off x="6619875" y="4781550"/>
            <a:ext cx="500062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cross-validation framework overwhelmingly supported </a:t>
            </a: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Multiple Regression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as the most stable and accurate model.</a:t>
            </a:r>
            <a:endParaRPr/>
          </a:p>
        </p:txBody>
      </p:sp>
      <p:pic>
        <p:nvPicPr>
          <p:cNvPr id="280" name="Google Shape;28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363664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4112895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125" y="4893945"/>
            <a:ext cx="1143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E3A8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Final Conclusion</a:t>
            </a:r>
            <a:endParaRPr/>
          </a:p>
        </p:txBody>
      </p:sp>
      <p:sp>
        <p:nvSpPr>
          <p:cNvPr id="289" name="Google Shape;289;p24"/>
          <p:cNvSpPr/>
          <p:nvPr/>
        </p:nvSpPr>
        <p:spPr>
          <a:xfrm>
            <a:off x="571500" y="1285875"/>
            <a:ext cx="11049000" cy="2857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4"/>
          <p:cNvSpPr/>
          <p:nvPr/>
        </p:nvSpPr>
        <p:spPr>
          <a:xfrm>
            <a:off x="1333500" y="2105025"/>
            <a:ext cx="9525000" cy="99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/>
          <p:nvPr/>
        </p:nvSpPr>
        <p:spPr>
          <a:xfrm>
            <a:off x="1333500" y="3286125"/>
            <a:ext cx="9525000" cy="99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4"/>
          <p:cNvSpPr/>
          <p:nvPr/>
        </p:nvSpPr>
        <p:spPr>
          <a:xfrm>
            <a:off x="1333500" y="4467225"/>
            <a:ext cx="9525000" cy="10287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4"/>
          <p:cNvSpPr/>
          <p:nvPr/>
        </p:nvSpPr>
        <p:spPr>
          <a:xfrm>
            <a:off x="1333500" y="2105025"/>
            <a:ext cx="47625" cy="990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4"/>
          <p:cNvSpPr txBox="1"/>
          <p:nvPr/>
        </p:nvSpPr>
        <p:spPr>
          <a:xfrm>
            <a:off x="2162175" y="2230992"/>
            <a:ext cx="8410575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Multiple Linear Regression</a:t>
            </a:r>
            <a:r>
              <a:rPr lang="en-US" sz="1500" dirty="0">
                <a:solidFill>
                  <a:schemeClr val="tx1">
                    <a:lumMod val="75000"/>
                    <a:lumOff val="2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was selected as the best-performing model based on its superior predictive performance and cross-validation stability.</a:t>
            </a:r>
            <a:endParaRPr sz="1500" dirty="0">
              <a:solidFill>
                <a:schemeClr val="tx1">
                  <a:lumMod val="75000"/>
                  <a:lumOff val="25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96" name="Google Shape;296;p24"/>
          <p:cNvSpPr/>
          <p:nvPr/>
        </p:nvSpPr>
        <p:spPr>
          <a:xfrm>
            <a:off x="1333500" y="3286125"/>
            <a:ext cx="47625" cy="990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2190750" y="3476625"/>
            <a:ext cx="8382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Role of Regularization: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While Ridge, LASSO, and Elastic Net were highly useful for addressing multicollinearity and providing baselines, OLS Multiple Regression maintained edge in accuracy.</a:t>
            </a:r>
            <a:endParaRPr dirty="0"/>
          </a:p>
        </p:txBody>
      </p:sp>
      <p:sp>
        <p:nvSpPr>
          <p:cNvPr id="298" name="Google Shape;298;p24"/>
          <p:cNvSpPr/>
          <p:nvPr/>
        </p:nvSpPr>
        <p:spPr>
          <a:xfrm>
            <a:off x="1333500" y="4467225"/>
            <a:ext cx="47625" cy="10287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4"/>
          <p:cNvSpPr txBox="1"/>
          <p:nvPr/>
        </p:nvSpPr>
        <p:spPr>
          <a:xfrm>
            <a:off x="2124075" y="4657725"/>
            <a:ext cx="8448675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Key Market Drivers: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The analysis confirmed that a vehicle's age, kilometres driven, max power, engine size, transmission type, and brand are the most critical factors dictating resale price.</a:t>
            </a:r>
            <a:endParaRPr/>
          </a:p>
        </p:txBody>
      </p:sp>
      <p:pic>
        <p:nvPicPr>
          <p:cNvPr id="300" name="Google Shape;30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66875" y="2462212"/>
            <a:ext cx="3048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66875" y="3643312"/>
            <a:ext cx="33337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66875" y="4843462"/>
            <a:ext cx="266700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1311</Words>
  <Application>Microsoft Office PowerPoint</Application>
  <PresentationFormat>Widescreen</PresentationFormat>
  <Paragraphs>119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Calibri</vt:lpstr>
      <vt:lpstr>Poppins SemiBold</vt:lpstr>
      <vt:lpstr>Poppins</vt:lpstr>
      <vt:lpstr>Arial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Shreyansh Kumar Das</dc:creator>
  <cp:lastModifiedBy>Shreyansh Kumar Das</cp:lastModifiedBy>
  <cp:revision>2</cp:revision>
  <dcterms:modified xsi:type="dcterms:W3CDTF">2026-05-07T16:32:18Z</dcterms:modified>
</cp:coreProperties>
</file>